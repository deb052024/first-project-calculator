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irman briefing" id="{8eb32821-2587-f0b5-0d93-a50d6ab00ab8}">
          <p14:sldIdLst>
            <p14:sldId id="256"/>
            <p14:sldId id="257"/>
            <p14:sldId id="258"/>
            <p14:sldId id="259"/>
          </p14:sldIdLst>
        </p14:section>
        <p14:section name="Annex" id="{d08cdb9f-0038-5308-b8f9-dda854e5fea9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9B7B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C1C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E2B2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9E2B25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9E2B25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9B7B3D"/>
              </a:solidFill>
              <a:effectLst/>
            </c:spPr>
          </c:dPt>
          <c:cat>
            <c:multiLvlStrRef>
              <c:f>Sheet1!$A$2:$A$20</c:f>
              <c:multiLvlStrCache>
                <c:ptCount val="19"/>
                <c:lvl>
                  <c:pt idx="0">
                    <c:v>Digital inquiry</c:v>
                  </c:pt>
                  <c:pt idx="1">
                    <c:v>Call center</c:v>
                  </c:pt>
                  <c:pt idx="2">
                    <c:v>Broker  |  NAAS Properties</c:v>
                  </c:pt>
                  <c:pt idx="3">
                    <c:v>Broker  |  800Homes</c:v>
                  </c:pt>
                  <c:pt idx="4">
                    <c:v>Broker  |  Manazel Al Wadi</c:v>
                  </c:pt>
                  <c:pt idx="5">
                    <c:v>Broker  |  Sekenkoum</c:v>
                  </c:pt>
                  <c:pt idx="6">
                    <c:v>Kiosk  |  JBR The Walk</c:v>
                  </c:pt>
                  <c:pt idx="7">
                    <c:v>Kiosk  |  JBR The Beach</c:v>
                  </c:pt>
                  <c:pt idx="8">
                    <c:v>Kiosk  |  Mirdif City Center</c:v>
                  </c:pt>
                  <c:pt idx="9">
                    <c:v>Kiosk  |  Bluewaters</c:v>
                  </c:pt>
                  <c:pt idx="10">
                    <c:v>Kiosk  |  Grand Hyatt</c:v>
                  </c:pt>
                  <c:pt idx="11">
                    <c:v>Kiosk  |  Mall of the Emirates</c:v>
                  </c:pt>
                  <c:pt idx="12">
                    <c:v>Office  |  H Hotel (1 visit)</c:v>
                  </c:pt>
                  <c:pt idx="13">
                    <c:v>Office  |  Binghatti Capital</c:v>
                  </c:pt>
                  <c:pt idx="14">
                    <c:v>Office  |  Binghatti Industries</c:v>
                  </c:pt>
                  <c:pt idx="15">
                    <c:v>Office  |  Old Sales Center (RPM)</c:v>
                  </c:pt>
                  <c:pt idx="16">
                    <c:v>Office  |  Mercedes-Benz Places Pavilion</c:v>
                  </c:pt>
                  <c:pt idx="17">
                    <c:v>Office  |  Binghatti Meydan</c:v>
                  </c:pt>
                  <c:pt idx="18">
                    <c:v>Office  |  Sales Boutique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82</c:v>
                </c:pt>
                <c:pt idx="1">
                  <c:v>84</c:v>
                </c:pt>
                <c:pt idx="2">
                  <c:v>75</c:v>
                </c:pt>
                <c:pt idx="3">
                  <c:v>87</c:v>
                </c:pt>
                <c:pt idx="4">
                  <c:v>90</c:v>
                </c:pt>
                <c:pt idx="5">
                  <c:v>98</c:v>
                </c:pt>
                <c:pt idx="6">
                  <c:v>43</c:v>
                </c:pt>
                <c:pt idx="7">
                  <c:v>80</c:v>
                </c:pt>
                <c:pt idx="8">
                  <c:v>83</c:v>
                </c:pt>
                <c:pt idx="9">
                  <c:v>84</c:v>
                </c:pt>
                <c:pt idx="10">
                  <c:v>85</c:v>
                </c:pt>
                <c:pt idx="11">
                  <c:v>93</c:v>
                </c:pt>
                <c:pt idx="12">
                  <c:v>39</c:v>
                </c:pt>
                <c:pt idx="13">
                  <c:v>63</c:v>
                </c:pt>
                <c:pt idx="14">
                  <c:v>76</c:v>
                </c:pt>
                <c:pt idx="15">
                  <c:v>80</c:v>
                </c:pt>
                <c:pt idx="16">
                  <c:v>86</c:v>
                </c:pt>
                <c:pt idx="17">
                  <c:v>89</c:v>
                </c:pt>
                <c:pt idx="18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C1C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C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pages: the answer on one page, how integrity is breaking down, and the three decisions with a 90 day plan. Everything else is in the annex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Chairman reads one page, this is it. Wave 1 tested 53 buyer journeys. Service is above benchmark everywhere. Integrity is the issue: 7 of 53 journeys raised a concern, and every outside broker call followed details the buyer gave only to Binghatti, 3 of 4 from one firm. Side deals were offered in 17% of in-person visits and a further case was reported on 13 October. Three decisions are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all four outside broker calls followed details the buyer gave only to Binghatti, three from Profound Realtors within 2 to 14 days, each citing a campaign the buyer never joined. Middle: side deals are offered when buyers push on price. Right: the cases to escalate. Bottom: the five control gaps and the fix for each. These are signals from 53 test journeys, not proof; the audit establishes how the data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one: authorize the two week audit led by Governance &amp; Risk with IT and Legal. Decision two: zero tolerance on passbacks and concealed discounts. Decision three: one named owner for every lead in CRM. The 90 day plan below shows how the decisions land, alongside the supporting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 level detail behind the service score. Most locations had one or two visits, so read individual scores as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of section scores by channel, then the strongest and weakest service behaviors with their bases.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codes only here. Staff named in each case are listed in Annex E, which is restricted.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for questions on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Restricted page. Names come from evaluator reports and the BARE tracker. Inclusion is not a finding of wrongdoing; the audit and investigation will establish facts. Remove the Annex E pages before the deck is shared outside the Chairman's office, Group CHRO, Governance &amp; Risk and Legal, including before it goes back to BARE as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Restricted page. Names come from evaluator reports and the BARE tracker. Inclusion is not a finding of wrongdoing; the audit and investigation will establish facts. Remove the Annex E pages before the deck is shared outside the Chairman's office, Group CHRO, Governance &amp; Risk and Legal, including before it goes back to BARE as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cover_burj_binghatt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0"/>
            <a:ext cx="7116775" cy="6858000"/>
          </a:xfrm>
          <a:prstGeom prst="rect">
            <a:avLst/>
          </a:prstGeom>
        </p:spPr>
      </p:pic>
      <p:pic>
        <p:nvPicPr>
          <p:cNvPr id="3" name="Image 1" descr="/home/claude/build/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89280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_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cover_burj_binghatt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0"/>
            <a:ext cx="7116775" cy="6858000"/>
          </a:xfrm>
          <a:prstGeom prst="rect">
            <a:avLst/>
          </a:prstGeom>
        </p:spPr>
      </p:pic>
      <p:pic>
        <p:nvPicPr>
          <p:cNvPr id="3" name="Image 1" descr="/home/claude/build/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892808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331720"/>
            <a:ext cx="4297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_CONTENT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509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50976"/>
            <a:ext cx="12191695" cy="50292"/>
          </a:xfrm>
          <a:prstGeom prst="rect">
            <a:avLst/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4" name="Image 0" descr="/home/claude/build/assets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2952" y="237744"/>
            <a:ext cx="1773936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2064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 |  For Binghatti internal use only</a:t>
            </a:r>
            <a:endParaRPr lang="en-US" sz="10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8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CHAIRMAN BRIEFING</a:t>
            </a:r>
            <a:endParaRPr lang="en-US" sz="10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233172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Mystery Shopper Audit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integrity and customer experience: Wave 1 findings and decisions required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HR Planning and Organizational Development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  |  Strictly Confidential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and analysis by BARE International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summary: service holds, integrity does not</a:t>
            </a:r>
            <a:endParaRPr lang="en-US" sz="2400" dirty="0"/>
          </a:p>
        </p:txBody>
      </p:sp>
      <p:sp>
        <p:nvSpPr>
          <p:cNvPr id="4" name="Answer banner"/>
          <p:cNvSpPr/>
          <p:nvPr/>
        </p:nvSpPr>
        <p:spPr>
          <a:xfrm>
            <a:off x="512064" y="1152144"/>
            <a:ext cx="11164824" cy="603504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" y="1152144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</a:t>
            </a:r>
            <a:pPr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teams serve buyers well, but 7 of 53 test journeys raised a concern over how buyer data or discounts were handled. The pattern points to how leads are stored and shared, not only to individuals.</a:t>
            </a:r>
            <a:endParaRPr lang="en-US" sz="1400" dirty="0"/>
          </a:p>
        </p:txBody>
      </p:sp>
      <p:sp>
        <p:nvSpPr>
          <p:cNvPr id="6" name="Card did"/>
          <p:cNvSpPr/>
          <p:nvPr/>
        </p:nvSpPr>
        <p:spPr>
          <a:xfrm>
            <a:off x="512064" y="1883664"/>
            <a:ext cx="268833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" y="1993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WE DID</a:t>
            </a:r>
            <a:endParaRPr lang="en-US" sz="1100" dirty="0"/>
          </a:p>
        </p:txBody>
      </p:sp>
      <p:sp>
        <p:nvSpPr>
          <p:cNvPr id="8" name="Progress ring"/>
          <p:cNvSpPr/>
          <p:nvPr/>
        </p:nvSpPr>
        <p:spPr>
          <a:xfrm>
            <a:off x="1147572" y="2340864"/>
            <a:ext cx="1417320" cy="1417320"/>
          </a:xfrm>
          <a:prstGeom prst="blockArc">
            <a:avLst>
              <a:gd name="adj1" fmla="val 0"/>
              <a:gd name="adj2" fmla="val 21594000"/>
              <a:gd name="adj3" fmla="val 15000"/>
            </a:avLst>
          </a:prstGeom>
          <a:solidFill>
            <a:srgbClr val="EEEDE9"/>
          </a:solidFill>
          <a:ln w="12700">
            <a:solidFill>
              <a:srgbClr val="EEEDE9"/>
            </a:solidFill>
            <a:prstDash val="solid"/>
          </a:ln>
        </p:spPr>
      </p:sp>
      <p:sp>
        <p:nvSpPr>
          <p:cNvPr id="9" name="Progress arc"/>
          <p:cNvSpPr/>
          <p:nvPr/>
        </p:nvSpPr>
        <p:spPr>
          <a:xfrm>
            <a:off x="1147572" y="2340864"/>
            <a:ext cx="1417320" cy="1417320"/>
          </a:xfrm>
          <a:prstGeom prst="blockArc">
            <a:avLst>
              <a:gd name="adj1" fmla="val 16200000"/>
              <a:gd name="adj2" fmla="val 324000"/>
              <a:gd name="adj3" fmla="val 15000"/>
            </a:avLst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7572" y="261518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200 planned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382219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buyer journeys, Jul to Sep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4944" y="4279392"/>
            <a:ext cx="701155" cy="292608"/>
          </a:xfrm>
          <a:prstGeom prst="rect">
            <a:avLst/>
          </a:prstGeom>
          <a:solidFill>
            <a:srgbClr val="11111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" y="4279392"/>
            <a:ext cx="7011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396099" y="4279392"/>
            <a:ext cx="613511" cy="292608"/>
          </a:xfrm>
          <a:prstGeom prst="rect">
            <a:avLst/>
          </a:prstGeom>
          <a:solidFill>
            <a:srgbClr val="9B7B3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96099" y="4279392"/>
            <a:ext cx="6135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09610" y="4279392"/>
            <a:ext cx="438222" cy="292608"/>
          </a:xfrm>
          <a:prstGeom prst="rect">
            <a:avLst/>
          </a:prstGeom>
          <a:solidFill>
            <a:srgbClr val="C9AE7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009610" y="4279392"/>
            <a:ext cx="438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47832" y="4279392"/>
            <a:ext cx="394400" cy="292608"/>
          </a:xfrm>
          <a:prstGeom prst="rect">
            <a:avLst/>
          </a:prstGeom>
          <a:solidFill>
            <a:srgbClr val="6E6A6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47832" y="4279392"/>
            <a:ext cx="39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42231" y="4279392"/>
            <a:ext cx="175289" cy="292608"/>
          </a:xfrm>
          <a:prstGeom prst="rect">
            <a:avLst/>
          </a:prstGeom>
          <a:solidFill>
            <a:srgbClr val="A7A49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42231" y="4279392"/>
            <a:ext cx="1752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" y="462686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16  |  Digital 14  |  Office 10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9  |  Broker 4  |  19 locations</a:t>
            </a:r>
            <a:endParaRPr lang="en-US" sz="1000" dirty="0"/>
          </a:p>
        </p:txBody>
      </p:sp>
      <p:sp>
        <p:nvSpPr>
          <p:cNvPr id="23" name="Card service"/>
          <p:cNvSpPr/>
          <p:nvPr/>
        </p:nvSpPr>
        <p:spPr>
          <a:xfrm>
            <a:off x="3337560" y="1883664"/>
            <a:ext cx="268833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02152" y="1993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SERVICE</a:t>
            </a:r>
            <a:endParaRPr lang="en-US" sz="1100" dirty="0"/>
          </a:p>
        </p:txBody>
      </p:sp>
      <p:sp>
        <p:nvSpPr>
          <p:cNvPr id="25" name="Gauge track"/>
          <p:cNvSpPr/>
          <p:nvPr/>
        </p:nvSpPr>
        <p:spPr>
          <a:xfrm>
            <a:off x="3675888" y="2359152"/>
            <a:ext cx="2011680" cy="2011680"/>
          </a:xfrm>
          <a:prstGeom prst="blockArc">
            <a:avLst>
              <a:gd name="adj1" fmla="val 10800000"/>
              <a:gd name="adj2" fmla="val 0"/>
              <a:gd name="adj3" fmla="val 16000"/>
            </a:avLst>
          </a:prstGeom>
          <a:solidFill>
            <a:srgbClr val="EEEDE9"/>
          </a:solidFill>
          <a:ln w="12700">
            <a:solidFill>
              <a:srgbClr val="EEEDE9"/>
            </a:solidFill>
            <a:prstDash val="solid"/>
          </a:ln>
        </p:spPr>
      </p:sp>
      <p:sp>
        <p:nvSpPr>
          <p:cNvPr id="26" name="Gauge value"/>
          <p:cNvSpPr/>
          <p:nvPr/>
        </p:nvSpPr>
        <p:spPr>
          <a:xfrm>
            <a:off x="3675888" y="2359152"/>
            <a:ext cx="2011680" cy="2011680"/>
          </a:xfrm>
          <a:prstGeom prst="blockArc">
            <a:avLst>
              <a:gd name="adj1" fmla="val 10800000"/>
              <a:gd name="adj2" fmla="val 19764000"/>
              <a:gd name="adj3" fmla="val 16000"/>
            </a:avLst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sp>
        <p:nvSpPr>
          <p:cNvPr id="27" name="Benchmark tick"/>
          <p:cNvSpPr/>
          <p:nvPr/>
        </p:nvSpPr>
        <p:spPr>
          <a:xfrm>
            <a:off x="3621024" y="2304288"/>
            <a:ext cx="2121408" cy="2121408"/>
          </a:xfrm>
          <a:prstGeom prst="blockArc">
            <a:avLst>
              <a:gd name="adj1" fmla="val 18828000"/>
              <a:gd name="adj2" fmla="val 18972000"/>
              <a:gd name="adj3" fmla="val 22500"/>
            </a:avLst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75888" y="28163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800" dirty="0"/>
          </a:p>
        </p:txBody>
      </p:sp>
      <p:sp>
        <p:nvSpPr>
          <p:cNvPr id="29" name="Text 26"/>
          <p:cNvSpPr txBox="1"/>
          <p:nvPr/>
        </p:nvSpPr>
        <p:spPr>
          <a:xfrm>
            <a:off x="3675888" y="32735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score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3520440" y="354787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benchmark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3520440" y="380390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channels above benchmark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rated it Excellent or Very Good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520440" y="4315968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BENCHMARK</a:t>
            </a:r>
            <a:endParaRPr lang="en-US" sz="1000" dirty="0"/>
          </a:p>
        </p:txBody>
      </p:sp>
      <p:sp>
        <p:nvSpPr>
          <p:cNvPr id="33" name="Low chip"/>
          <p:cNvSpPr/>
          <p:nvPr/>
        </p:nvSpPr>
        <p:spPr>
          <a:xfrm>
            <a:off x="3520440" y="4535424"/>
            <a:ext cx="737616" cy="457200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20440" y="4535424"/>
            <a:ext cx="737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inquiry</a:t>
            </a:r>
            <a:endParaRPr lang="en-US" sz="1400" dirty="0"/>
          </a:p>
        </p:txBody>
      </p:sp>
      <p:sp>
        <p:nvSpPr>
          <p:cNvPr id="35" name="Low chip"/>
          <p:cNvSpPr/>
          <p:nvPr/>
        </p:nvSpPr>
        <p:spPr>
          <a:xfrm>
            <a:off x="4312920" y="4535424"/>
            <a:ext cx="737616" cy="457200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312920" y="4535424"/>
            <a:ext cx="737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calls</a:t>
            </a:r>
            <a:endParaRPr lang="en-US" sz="1400" dirty="0"/>
          </a:p>
        </p:txBody>
      </p:sp>
      <p:sp>
        <p:nvSpPr>
          <p:cNvPr id="37" name="Low chip"/>
          <p:cNvSpPr/>
          <p:nvPr/>
        </p:nvSpPr>
        <p:spPr>
          <a:xfrm>
            <a:off x="5105400" y="4535424"/>
            <a:ext cx="737616" cy="457200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05400" y="4535424"/>
            <a:ext cx="737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sz="1400" dirty="0"/>
          </a:p>
        </p:txBody>
      </p:sp>
      <p:sp>
        <p:nvSpPr>
          <p:cNvPr id="39" name="Card integrity"/>
          <p:cNvSpPr/>
          <p:nvPr/>
        </p:nvSpPr>
        <p:spPr>
          <a:xfrm>
            <a:off x="6163056" y="1883664"/>
            <a:ext cx="2688336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327648" y="1993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INTEGRITY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327648" y="2267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3000" dirty="0"/>
          </a:p>
        </p:txBody>
      </p:sp>
      <p:sp>
        <p:nvSpPr>
          <p:cNvPr id="42" name="Text 39"/>
          <p:cNvSpPr txBox="1"/>
          <p:nvPr/>
        </p:nvSpPr>
        <p:spPr>
          <a:xfrm>
            <a:off x="7397496" y="226771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53 journeys raised a concern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341364" y="2889504"/>
            <a:ext cx="155448" cy="155448"/>
          </a:xfrm>
          <a:prstGeom prst="ellipse">
            <a:avLst/>
          </a:prstGeom>
          <a:solidFill>
            <a:srgbClr val="9E2B25"/>
          </a:solidFill>
          <a:ln w="6350">
            <a:solidFill>
              <a:srgbClr val="9E2B2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558991" y="2889504"/>
            <a:ext cx="155448" cy="155448"/>
          </a:xfrm>
          <a:prstGeom prst="ellipse">
            <a:avLst/>
          </a:prstGeom>
          <a:solidFill>
            <a:srgbClr val="9E2B25"/>
          </a:solidFill>
          <a:ln w="6350">
            <a:solidFill>
              <a:srgbClr val="9E2B2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776618" y="2889504"/>
            <a:ext cx="155448" cy="155448"/>
          </a:xfrm>
          <a:prstGeom prst="ellipse">
            <a:avLst/>
          </a:prstGeom>
          <a:solidFill>
            <a:srgbClr val="9E2B25"/>
          </a:solidFill>
          <a:ln w="6350">
            <a:solidFill>
              <a:srgbClr val="9E2B2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94246" y="2889504"/>
            <a:ext cx="155448" cy="155448"/>
          </a:xfrm>
          <a:prstGeom prst="ellipse">
            <a:avLst/>
          </a:prstGeom>
          <a:solidFill>
            <a:srgbClr val="9E2B25"/>
          </a:solidFill>
          <a:ln w="6350">
            <a:solidFill>
              <a:srgbClr val="9E2B2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211873" y="2889504"/>
            <a:ext cx="155448" cy="155448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429500" y="2889504"/>
            <a:ext cx="155448" cy="15544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647127" y="2889504"/>
            <a:ext cx="155448" cy="15544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864754" y="2889504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8082382" y="2889504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300009" y="2889504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517636" y="2889504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41364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558991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776618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994246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211873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429500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647127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864754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082382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300009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517636" y="3107131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341364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558991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776618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994246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211873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429500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7647127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864754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082382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300009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8517636" y="3324758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341364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558991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6776618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994246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211873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429500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647127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864754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082382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00009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17636" y="3542386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341364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558991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776618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6994246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211873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429500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647127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7864754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8082382" y="3760013"/>
            <a:ext cx="155448" cy="155448"/>
          </a:xfrm>
          <a:prstGeom prst="ellipse">
            <a:avLst/>
          </a:prstGeom>
          <a:solidFill>
            <a:srgbClr val="EEEDE9"/>
          </a:solidFill>
          <a:ln w="6350">
            <a:solidFill>
              <a:srgbClr val="D9CFB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364224" y="4078224"/>
            <a:ext cx="137160" cy="137160"/>
          </a:xfrm>
          <a:prstGeom prst="ellipse">
            <a:avLst/>
          </a:prstGeom>
          <a:solidFill>
            <a:srgbClr val="9E2B25"/>
          </a:solidFill>
          <a:ln w="6350">
            <a:solidFill>
              <a:srgbClr val="9E2B25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6574536" y="402336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broker contacts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6364224" y="4352544"/>
            <a:ext cx="137160" cy="137160"/>
          </a:xfrm>
          <a:prstGeom prst="ellipse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6574536" y="429768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side deal by our agent</a:t>
            </a:r>
            <a:endParaRPr lang="en-US" sz="1100" dirty="0"/>
          </a:p>
        </p:txBody>
      </p:sp>
      <p:sp>
        <p:nvSpPr>
          <p:cNvPr id="100" name="Shape 97"/>
          <p:cNvSpPr/>
          <p:nvPr/>
        </p:nvSpPr>
        <p:spPr>
          <a:xfrm>
            <a:off x="6364224" y="4626864"/>
            <a:ext cx="137160" cy="137160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6574536" y="457200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moved internally</a:t>
            </a:r>
            <a:endParaRPr lang="en-US" sz="1100" dirty="0"/>
          </a:p>
        </p:txBody>
      </p:sp>
      <p:sp>
        <p:nvSpPr>
          <p:cNvPr id="102" name="Text 99"/>
          <p:cNvSpPr txBox="1"/>
          <p:nvPr/>
        </p:nvSpPr>
        <p:spPr>
          <a:xfrm>
            <a:off x="6300216" y="484632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3  |  Digital 2  |  Call center 1  |  Office 1</a:t>
            </a:r>
            <a:endParaRPr lang="en-US" sz="1000" dirty="0"/>
          </a:p>
        </p:txBody>
      </p:sp>
      <p:sp>
        <p:nvSpPr>
          <p:cNvPr id="103" name="Card means"/>
          <p:cNvSpPr/>
          <p:nvPr/>
        </p:nvSpPr>
        <p:spPr>
          <a:xfrm>
            <a:off x="8988552" y="1883664"/>
            <a:ext cx="2688336" cy="3200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9153144" y="1993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IT MEANS</a:t>
            </a:r>
            <a:endParaRPr lang="en-US" sz="1100" dirty="0"/>
          </a:p>
        </p:txBody>
      </p:sp>
      <p:sp>
        <p:nvSpPr>
          <p:cNvPr id="105" name="Shape 102"/>
          <p:cNvSpPr/>
          <p:nvPr/>
        </p:nvSpPr>
        <p:spPr>
          <a:xfrm>
            <a:off x="9153144" y="235915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0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37" y="2462845"/>
            <a:ext cx="176662" cy="176662"/>
          </a:xfrm>
          <a:prstGeom prst="rect">
            <a:avLst/>
          </a:prstGeom>
        </p:spPr>
      </p:pic>
      <p:sp>
        <p:nvSpPr>
          <p:cNvPr id="107" name="Text 103"/>
          <p:cNvSpPr txBox="1"/>
          <p:nvPr/>
        </p:nvSpPr>
        <p:spPr>
          <a:xfrm>
            <a:off x="9646920" y="232257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broker calls followed details given only to Binghatti</a:t>
            </a:r>
            <a:endParaRPr lang="en-US" sz="1400" dirty="0"/>
          </a:p>
        </p:txBody>
      </p:sp>
      <p:sp>
        <p:nvSpPr>
          <p:cNvPr id="108" name="Shape 104"/>
          <p:cNvSpPr/>
          <p:nvPr/>
        </p:nvSpPr>
        <p:spPr>
          <a:xfrm>
            <a:off x="9153144" y="304495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0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6837" y="3148645"/>
            <a:ext cx="176662" cy="176662"/>
          </a:xfrm>
          <a:prstGeom prst="rect">
            <a:avLst/>
          </a:prstGeom>
        </p:spPr>
      </p:pic>
      <p:sp>
        <p:nvSpPr>
          <p:cNvPr id="110" name="Text 105"/>
          <p:cNvSpPr txBox="1"/>
          <p:nvPr/>
        </p:nvSpPr>
        <p:spPr>
          <a:xfrm>
            <a:off x="9646920" y="300837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of 4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one brokerage, citing campaigns the buyer never joined</a:t>
            </a:r>
            <a:endParaRPr lang="en-US" sz="1400" dirty="0"/>
          </a:p>
        </p:txBody>
      </p:sp>
      <p:sp>
        <p:nvSpPr>
          <p:cNvPr id="111" name="Shape 106"/>
          <p:cNvSpPr/>
          <p:nvPr/>
        </p:nvSpPr>
        <p:spPr>
          <a:xfrm>
            <a:off x="9153144" y="373075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837" y="3834445"/>
            <a:ext cx="176662" cy="176662"/>
          </a:xfrm>
          <a:prstGeom prst="rect">
            <a:avLst/>
          </a:prstGeom>
        </p:spPr>
      </p:pic>
      <p:sp>
        <p:nvSpPr>
          <p:cNvPr id="113" name="Text 107"/>
          <p:cNvSpPr txBox="1"/>
          <p:nvPr/>
        </p:nvSpPr>
        <p:spPr>
          <a:xfrm>
            <a:off x="9646920" y="369417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in-person visits heard a broker could beat our price</a:t>
            </a:r>
            <a:endParaRPr lang="en-US" sz="1400" dirty="0"/>
          </a:p>
        </p:txBody>
      </p:sp>
      <p:sp>
        <p:nvSpPr>
          <p:cNvPr id="114" name="Shape 108"/>
          <p:cNvSpPr/>
          <p:nvPr/>
        </p:nvSpPr>
        <p:spPr>
          <a:xfrm>
            <a:off x="9153144" y="4416552"/>
            <a:ext cx="384048" cy="38404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837" y="4520245"/>
            <a:ext cx="176662" cy="176662"/>
          </a:xfrm>
          <a:prstGeom prst="rect">
            <a:avLst/>
          </a:prstGeom>
        </p:spPr>
      </p:pic>
      <p:sp>
        <p:nvSpPr>
          <p:cNvPr id="116" name="Text 109"/>
          <p:cNvSpPr txBox="1"/>
          <p:nvPr/>
        </p:nvSpPr>
        <p:spPr>
          <a:xfrm>
            <a:off x="9646920" y="4379976"/>
            <a:ext cx="1911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Oct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case after Wave 1 suggests it is ongoing</a:t>
            </a:r>
            <a:endParaRPr lang="en-US" sz="1400" dirty="0"/>
          </a:p>
        </p:txBody>
      </p:sp>
      <p:sp>
        <p:nvSpPr>
          <p:cNvPr id="117" name="Need label"/>
          <p:cNvSpPr/>
          <p:nvPr/>
        </p:nvSpPr>
        <p:spPr>
          <a:xfrm>
            <a:off x="512064" y="5230368"/>
            <a:ext cx="173736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8" name="Text 111"/>
          <p:cNvSpPr txBox="1"/>
          <p:nvPr/>
        </p:nvSpPr>
        <p:spPr>
          <a:xfrm>
            <a:off x="658368" y="523036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WE NEED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decisions today</a:t>
            </a:r>
            <a:endParaRPr lang="en-US" sz="1400" dirty="0"/>
          </a:p>
        </p:txBody>
      </p:sp>
      <p:sp>
        <p:nvSpPr>
          <p:cNvPr id="119" name="Decision chip"/>
          <p:cNvSpPr/>
          <p:nvPr/>
        </p:nvSpPr>
        <p:spPr>
          <a:xfrm>
            <a:off x="2340864" y="5230368"/>
            <a:ext cx="3051048" cy="822960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120" name="Text 113"/>
          <p:cNvSpPr txBox="1"/>
          <p:nvPr/>
        </p:nvSpPr>
        <p:spPr>
          <a:xfrm>
            <a:off x="2450592" y="523036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21" name="Text 114"/>
          <p:cNvSpPr txBox="1"/>
          <p:nvPr/>
        </p:nvSpPr>
        <p:spPr>
          <a:xfrm>
            <a:off x="2935224" y="5230368"/>
            <a:ext cx="2319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a 2 week lead source and vendor audit</a:t>
            </a:r>
            <a:endParaRPr lang="en-US" sz="1300" dirty="0"/>
          </a:p>
        </p:txBody>
      </p:sp>
      <p:sp>
        <p:nvSpPr>
          <p:cNvPr id="122" name="Decision chip"/>
          <p:cNvSpPr/>
          <p:nvPr/>
        </p:nvSpPr>
        <p:spPr>
          <a:xfrm>
            <a:off x="5483352" y="5230368"/>
            <a:ext cx="3051048" cy="822960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123" name="Text 116"/>
          <p:cNvSpPr txBox="1"/>
          <p:nvPr/>
        </p:nvSpPr>
        <p:spPr>
          <a:xfrm>
            <a:off x="5593080" y="523036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4" name="Text 117"/>
          <p:cNvSpPr txBox="1"/>
          <p:nvPr/>
        </p:nvSpPr>
        <p:spPr>
          <a:xfrm>
            <a:off x="6077712" y="5230368"/>
            <a:ext cx="2319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on broker passbacks and concealed discounts</a:t>
            </a:r>
            <a:endParaRPr lang="en-US" sz="1300" dirty="0"/>
          </a:p>
        </p:txBody>
      </p:sp>
      <p:sp>
        <p:nvSpPr>
          <p:cNvPr id="125" name="Decision chip"/>
          <p:cNvSpPr/>
          <p:nvPr/>
        </p:nvSpPr>
        <p:spPr>
          <a:xfrm>
            <a:off x="8625840" y="5230368"/>
            <a:ext cx="3051048" cy="822960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126" name="Text 119"/>
          <p:cNvSpPr txBox="1"/>
          <p:nvPr/>
        </p:nvSpPr>
        <p:spPr>
          <a:xfrm>
            <a:off x="8735568" y="5230368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7" name="Text 120"/>
          <p:cNvSpPr txBox="1"/>
          <p:nvPr/>
        </p:nvSpPr>
        <p:spPr>
          <a:xfrm>
            <a:off x="9220200" y="5230368"/>
            <a:ext cx="2319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owner for every lead in CRM</a:t>
            </a:r>
            <a:endParaRPr lang="en-US" sz="1300" dirty="0"/>
          </a:p>
        </p:txBody>
      </p:sp>
      <p:sp>
        <p:nvSpPr>
          <p:cNvPr id="128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mystery audit, Wave 1 (53 evaluations, July to September 2026) and leakage tracker to 13 October. Detail in the annex.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buyer data and deals leave our control</a:t>
            </a:r>
            <a:endParaRPr lang="en-US" sz="2400" dirty="0"/>
          </a:p>
        </p:txBody>
      </p:sp>
      <p:sp>
        <p:nvSpPr>
          <p:cNvPr id="3" name="Takeaway"/>
          <p:cNvSpPr txBox="1"/>
          <p:nvPr/>
        </p:nvSpPr>
        <p:spPr>
          <a:xfrm>
            <a:off x="512064" y="1115568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brokers reach buyers who only spoke to us, side deals are offered in the room, and five control gaps allow both.</a:t>
            </a:r>
            <a:endParaRPr lang="en-US" sz="1500" dirty="0"/>
          </a:p>
        </p:txBody>
      </p:sp>
      <p:sp>
        <p:nvSpPr>
          <p:cNvPr id="5" name="Panel brokers"/>
          <p:cNvSpPr/>
          <p:nvPr/>
        </p:nvSpPr>
        <p:spPr>
          <a:xfrm>
            <a:off x="512064" y="1682496"/>
            <a:ext cx="4617720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" y="17739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BROKERS REACH OUR BUYERS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2011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inquiry to the outside call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6656" y="2286000"/>
            <a:ext cx="347472" cy="34747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2379817"/>
            <a:ext cx="159837" cy="15983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2494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tablet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V.23203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993392" y="2459736"/>
            <a:ext cx="127363" cy="0"/>
          </a:xfrm>
          <a:prstGeom prst="line">
            <a:avLst/>
          </a:prstGeom>
          <a:noFill/>
          <a:ln w="28575">
            <a:solidFill>
              <a:srgbClr val="11111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38528" y="2404872"/>
            <a:ext cx="109728" cy="10972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038459" y="2377440"/>
            <a:ext cx="164592" cy="164592"/>
          </a:xfrm>
          <a:prstGeom prst="ellipse">
            <a:avLst/>
          </a:prstGeom>
          <a:solidFill>
            <a:srgbClr val="11111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239627" y="23500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895344" y="2267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&amp; Partners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76656" y="2706624"/>
            <a:ext cx="347472" cy="347472"/>
          </a:xfrm>
          <a:prstGeom prst="ellipse">
            <a:avLst/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73" y="2800441"/>
            <a:ext cx="159837" cy="1598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97280" y="26700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V.22867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993392" y="2880360"/>
            <a:ext cx="254726" cy="0"/>
          </a:xfrm>
          <a:prstGeom prst="line">
            <a:avLst/>
          </a:prstGeom>
          <a:noFill/>
          <a:ln w="28575">
            <a:solidFill>
              <a:srgbClr val="9E2B2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38528" y="2825496"/>
            <a:ext cx="109728" cy="10972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165822" y="2798064"/>
            <a:ext cx="164592" cy="164592"/>
          </a:xfrm>
          <a:prstGeom prst="ellipse">
            <a:avLst/>
          </a:prstGeom>
          <a:solidFill>
            <a:srgbClr val="9E2B2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2366990" y="27706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3895344" y="2688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 Realtors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6656" y="3127248"/>
            <a:ext cx="347472" cy="347472"/>
          </a:xfrm>
          <a:prstGeom prst="ellipse">
            <a:avLst/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221065"/>
            <a:ext cx="159837" cy="15983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97280" y="309067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V.29389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1993392" y="3300984"/>
            <a:ext cx="382089" cy="0"/>
          </a:xfrm>
          <a:prstGeom prst="line">
            <a:avLst/>
          </a:prstGeom>
          <a:noFill/>
          <a:ln w="28575">
            <a:solidFill>
              <a:srgbClr val="9E2B2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938528" y="3246120"/>
            <a:ext cx="109728" cy="10972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2293185" y="3218688"/>
            <a:ext cx="164592" cy="164592"/>
          </a:xfrm>
          <a:prstGeom prst="ellipse">
            <a:avLst/>
          </a:prstGeom>
          <a:solidFill>
            <a:srgbClr val="9E2B2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494353" y="3191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3895344" y="3108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 Realtors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76656" y="3547872"/>
            <a:ext cx="347472" cy="347472"/>
          </a:xfrm>
          <a:prstGeom prst="ellipse">
            <a:avLst/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73" y="3641689"/>
            <a:ext cx="159837" cy="15983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97280" y="351129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V.23788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1993392" y="3721608"/>
            <a:ext cx="1783080" cy="0"/>
          </a:xfrm>
          <a:prstGeom prst="line">
            <a:avLst/>
          </a:prstGeom>
          <a:noFill/>
          <a:ln w="28575">
            <a:solidFill>
              <a:srgbClr val="9E2B2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938528" y="3666744"/>
            <a:ext cx="109728" cy="109728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3694176" y="3639312"/>
            <a:ext cx="164592" cy="164592"/>
          </a:xfrm>
          <a:prstGeom prst="ellipse">
            <a:avLst/>
          </a:prstGeom>
          <a:solidFill>
            <a:srgbClr val="9E2B2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3090672" y="3392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3895344" y="35295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 Realtors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676656" y="3986784"/>
            <a:ext cx="4288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4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firm, each citing a campaign the buyer never joined.  </a:t>
            </a:r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remote inquiries drew a call, vs 6% at kiosks and none at offices.</a:t>
            </a:r>
            <a:endParaRPr lang="en-US" sz="1050" dirty="0"/>
          </a:p>
        </p:txBody>
      </p:sp>
      <p:sp>
        <p:nvSpPr>
          <p:cNvPr id="41" name="Panel side deals"/>
          <p:cNvSpPr/>
          <p:nvPr/>
        </p:nvSpPr>
        <p:spPr>
          <a:xfrm>
            <a:off x="5266944" y="1682496"/>
            <a:ext cx="3310128" cy="276148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5431536" y="17739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DEALS IN THE ROOM</a:t>
            </a:r>
            <a:endParaRPr lang="en-US" sz="1100" dirty="0"/>
          </a:p>
        </p:txBody>
      </p:sp>
      <p:sp>
        <p:nvSpPr>
          <p:cNvPr id="43" name="Side deal tile"/>
          <p:cNvSpPr/>
          <p:nvPr/>
        </p:nvSpPr>
        <p:spPr>
          <a:xfrm>
            <a:off x="5431536" y="2084832"/>
            <a:ext cx="1444752" cy="896112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5522976" y="212140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1700" dirty="0"/>
          </a:p>
        </p:txBody>
      </p:sp>
      <p:sp>
        <p:nvSpPr>
          <p:cNvPr id="45" name="Text 38"/>
          <p:cNvSpPr txBox="1"/>
          <p:nvPr/>
        </p:nvSpPr>
        <p:spPr>
          <a:xfrm>
            <a:off x="5522976" y="243230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a broker could beat our price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5522976" y="27797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23 in-person visits</a:t>
            </a:r>
            <a:endParaRPr lang="en-US" sz="900" dirty="0"/>
          </a:p>
        </p:txBody>
      </p:sp>
      <p:sp>
        <p:nvSpPr>
          <p:cNvPr id="47" name="Side deal tile"/>
          <p:cNvSpPr/>
          <p:nvPr/>
        </p:nvSpPr>
        <p:spPr>
          <a:xfrm>
            <a:off x="6967728" y="2084832"/>
            <a:ext cx="1444752" cy="896112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059168" y="212140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1700" dirty="0"/>
          </a:p>
        </p:txBody>
      </p:sp>
      <p:sp>
        <p:nvSpPr>
          <p:cNvPr id="49" name="Text 42"/>
          <p:cNvSpPr txBox="1"/>
          <p:nvPr/>
        </p:nvSpPr>
        <p:spPr>
          <a:xfrm>
            <a:off x="7059168" y="2432304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keep the offer confidential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7059168" y="277977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24 in-person visits</a:t>
            </a:r>
            <a:endParaRPr lang="en-US" sz="900" dirty="0"/>
          </a:p>
        </p:txBody>
      </p:sp>
      <p:sp>
        <p:nvSpPr>
          <p:cNvPr id="51" name="Side deal tile"/>
          <p:cNvSpPr/>
          <p:nvPr/>
        </p:nvSpPr>
        <p:spPr>
          <a:xfrm>
            <a:off x="5431536" y="3054096"/>
            <a:ext cx="1444752" cy="896112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522976" y="309067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1700" dirty="0"/>
          </a:p>
        </p:txBody>
      </p:sp>
      <p:sp>
        <p:nvSpPr>
          <p:cNvPr id="53" name="Text 46"/>
          <p:cNvSpPr txBox="1"/>
          <p:nvPr/>
        </p:nvSpPr>
        <p:spPr>
          <a:xfrm>
            <a:off x="5522976" y="34015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visits affirmed a broker passback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5522976" y="37490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9 office visits</a:t>
            </a:r>
            <a:endParaRPr lang="en-US" sz="900" dirty="0"/>
          </a:p>
        </p:txBody>
      </p:sp>
      <p:sp>
        <p:nvSpPr>
          <p:cNvPr id="55" name="Side deal tile"/>
          <p:cNvSpPr/>
          <p:nvPr/>
        </p:nvSpPr>
        <p:spPr>
          <a:xfrm>
            <a:off x="6967728" y="3054096"/>
            <a:ext cx="1444752" cy="896112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7059168" y="309067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1700" dirty="0"/>
          </a:p>
        </p:txBody>
      </p:sp>
      <p:sp>
        <p:nvSpPr>
          <p:cNvPr id="57" name="Text 50"/>
          <p:cNvSpPr txBox="1"/>
          <p:nvPr/>
        </p:nvSpPr>
        <p:spPr>
          <a:xfrm>
            <a:off x="7059168" y="34015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ups from a number not on the card</a:t>
            </a:r>
            <a:endParaRPr lang="en-US" sz="1000" dirty="0"/>
          </a:p>
        </p:txBody>
      </p:sp>
      <p:sp>
        <p:nvSpPr>
          <p:cNvPr id="58" name="Text 51"/>
          <p:cNvSpPr txBox="1"/>
          <p:nvPr/>
        </p:nvSpPr>
        <p:spPr>
          <a:xfrm>
            <a:off x="7059168" y="374904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12 answers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5431536" y="3986784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passback turns a direct buyer into a commission paying broker sale.</a:t>
            </a:r>
            <a:endParaRPr lang="en-US" sz="1050" dirty="0"/>
          </a:p>
        </p:txBody>
      </p:sp>
      <p:sp>
        <p:nvSpPr>
          <p:cNvPr id="60" name="Panel cases"/>
          <p:cNvSpPr/>
          <p:nvPr/>
        </p:nvSpPr>
        <p:spPr>
          <a:xfrm>
            <a:off x="8714232" y="1682496"/>
            <a:ext cx="2962656" cy="2761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8878824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TO ESCALATE</a:t>
            </a:r>
            <a:endParaRPr lang="en-US" sz="1100" dirty="0"/>
          </a:p>
        </p:txBody>
      </p:sp>
      <p:sp>
        <p:nvSpPr>
          <p:cNvPr id="62" name="Text 55"/>
          <p:cNvSpPr txBox="1"/>
          <p:nvPr/>
        </p:nvSpPr>
        <p:spPr>
          <a:xfrm>
            <a:off x="10442448" y="1773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9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Names: Annex E</a:t>
            </a:r>
            <a:endParaRPr lang="en-US" sz="1000" dirty="0"/>
          </a:p>
        </p:txBody>
      </p:sp>
      <p:sp>
        <p:nvSpPr>
          <p:cNvPr id="63" name="Text 56"/>
          <p:cNvSpPr txBox="1"/>
          <p:nvPr/>
        </p:nvSpPr>
        <p:spPr>
          <a:xfrm>
            <a:off x="8878824" y="208483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V.22908  |  17 Aug  |  Kiosk</a:t>
            </a:r>
            <a:endParaRPr lang="en-US" sz="1050" dirty="0"/>
          </a:p>
        </p:txBody>
      </p:sp>
      <p:sp>
        <p:nvSpPr>
          <p:cNvPr id="64" name="Text 57"/>
          <p:cNvSpPr txBox="1"/>
          <p:nvPr/>
        </p:nvSpPr>
        <p:spPr>
          <a:xfrm>
            <a:off x="8878824" y="2313432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offered a broker for extra discount and asked for the spouse's passport to hide the buyer from Binghatti.</a:t>
            </a:r>
            <a:endParaRPr lang="en-US" sz="1050" dirty="0"/>
          </a:p>
        </p:txBody>
      </p:sp>
      <p:sp>
        <p:nvSpPr>
          <p:cNvPr id="65" name="Text 58"/>
          <p:cNvSpPr txBox="1"/>
          <p:nvPr/>
        </p:nvSpPr>
        <p:spPr>
          <a:xfrm>
            <a:off x="8878824" y="287121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V.26897  |  13 Oct  |  After Wave 1</a:t>
            </a:r>
            <a:endParaRPr lang="en-US" sz="1050" dirty="0"/>
          </a:p>
        </p:txBody>
      </p:sp>
      <p:sp>
        <p:nvSpPr>
          <p:cNvPr id="66" name="Text 59"/>
          <p:cNvSpPr txBox="1"/>
          <p:nvPr/>
        </p:nvSpPr>
        <p:spPr>
          <a:xfrm>
            <a:off x="8878824" y="3099816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offered outside agents' rates from her personal phone and asked the buyer for secrecy.</a:t>
            </a:r>
            <a:endParaRPr lang="en-US" sz="1050" dirty="0"/>
          </a:p>
        </p:txBody>
      </p:sp>
      <p:sp>
        <p:nvSpPr>
          <p:cNvPr id="67" name="Text 60"/>
          <p:cNvSpPr txBox="1"/>
          <p:nvPr/>
        </p:nvSpPr>
        <p:spPr>
          <a:xfrm>
            <a:off x="8878824" y="365760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V.27712, V.14893  |  Internal</a:t>
            </a:r>
            <a:endParaRPr lang="en-US" sz="1050" dirty="0"/>
          </a:p>
        </p:txBody>
      </p:sp>
      <p:sp>
        <p:nvSpPr>
          <p:cNvPr id="68" name="Text 61"/>
          <p:cNvSpPr txBox="1"/>
          <p:nvPr/>
        </p:nvSpPr>
        <p:spPr>
          <a:xfrm>
            <a:off x="8878824" y="388620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moved between staff without the buyer knowing; no outside party confirmed.</a:t>
            </a:r>
            <a:endParaRPr lang="en-US" sz="1050" dirty="0"/>
          </a:p>
        </p:txBody>
      </p:sp>
      <p:sp>
        <p:nvSpPr>
          <p:cNvPr id="69" name="Text 62"/>
          <p:cNvSpPr txBox="1"/>
          <p:nvPr/>
        </p:nvSpPr>
        <p:spPr>
          <a:xfrm>
            <a:off x="512064" y="45720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 FIVE CONTROL GAPS, EACH WITH A FIX</a:t>
            </a:r>
            <a:endParaRPr lang="en-US" sz="1100" dirty="0"/>
          </a:p>
        </p:txBody>
      </p:sp>
      <p:sp>
        <p:nvSpPr>
          <p:cNvPr id="70" name="Shape 63"/>
          <p:cNvSpPr/>
          <p:nvPr/>
        </p:nvSpPr>
        <p:spPr>
          <a:xfrm>
            <a:off x="512064" y="4846320"/>
            <a:ext cx="2276856" cy="365760"/>
          </a:xfrm>
          <a:prstGeom prst="homePlat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621792" y="484632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50" dirty="0"/>
          </a:p>
        </p:txBody>
      </p:sp>
      <p:sp>
        <p:nvSpPr>
          <p:cNvPr id="72" name="Text 65"/>
          <p:cNvSpPr txBox="1"/>
          <p:nvPr/>
        </p:nvSpPr>
        <p:spPr>
          <a:xfrm>
            <a:off x="557784" y="526694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taken at first touch, no record of where they go</a:t>
            </a:r>
            <a:endParaRPr lang="en-US" sz="1050" dirty="0"/>
          </a:p>
        </p:txBody>
      </p:sp>
      <p:sp>
        <p:nvSpPr>
          <p:cNvPr id="73" name="Fix box"/>
          <p:cNvSpPr/>
          <p:nvPr/>
        </p:nvSpPr>
        <p:spPr>
          <a:xfrm>
            <a:off x="512064" y="5669280"/>
            <a:ext cx="2167128" cy="438912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585216" y="566928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only capture with access and export logs</a:t>
            </a:r>
            <a:endParaRPr lang="en-US" sz="1050" dirty="0"/>
          </a:p>
        </p:txBody>
      </p:sp>
      <p:sp>
        <p:nvSpPr>
          <p:cNvPr id="75" name="Shape 68"/>
          <p:cNvSpPr/>
          <p:nvPr/>
        </p:nvSpPr>
        <p:spPr>
          <a:xfrm>
            <a:off x="2761488" y="4846320"/>
            <a:ext cx="2276856" cy="36576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2999232" y="484632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share</a:t>
            </a:r>
            <a:endParaRPr lang="en-US" sz="1150" dirty="0"/>
          </a:p>
        </p:txBody>
      </p:sp>
      <p:sp>
        <p:nvSpPr>
          <p:cNvPr id="77" name="Text 70"/>
          <p:cNvSpPr txBox="1"/>
          <p:nvPr/>
        </p:nvSpPr>
        <p:spPr>
          <a:xfrm>
            <a:off x="2807208" y="526694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 keeps reaching remote inquirers</a:t>
            </a:r>
            <a:endParaRPr lang="en-US" sz="1050" dirty="0"/>
          </a:p>
        </p:txBody>
      </p:sp>
      <p:sp>
        <p:nvSpPr>
          <p:cNvPr id="78" name="Fix box"/>
          <p:cNvSpPr/>
          <p:nvPr/>
        </p:nvSpPr>
        <p:spPr>
          <a:xfrm>
            <a:off x="2761488" y="5669280"/>
            <a:ext cx="2167128" cy="438912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2834640" y="566928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CRM exports and lead vendors</a:t>
            </a:r>
            <a:endParaRPr lang="en-US" sz="1050" dirty="0"/>
          </a:p>
        </p:txBody>
      </p:sp>
      <p:sp>
        <p:nvSpPr>
          <p:cNvPr id="80" name="Shape 73"/>
          <p:cNvSpPr/>
          <p:nvPr/>
        </p:nvSpPr>
        <p:spPr>
          <a:xfrm>
            <a:off x="5010912" y="4846320"/>
            <a:ext cx="2276856" cy="36576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5248656" y="484632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150" dirty="0"/>
          </a:p>
        </p:txBody>
      </p:sp>
      <p:sp>
        <p:nvSpPr>
          <p:cNvPr id="82" name="Text 75"/>
          <p:cNvSpPr txBox="1"/>
          <p:nvPr/>
        </p:nvSpPr>
        <p:spPr>
          <a:xfrm>
            <a:off x="5056632" y="526694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change hands; unlisted numbers used</a:t>
            </a:r>
            <a:endParaRPr lang="en-US" sz="1050" dirty="0"/>
          </a:p>
        </p:txBody>
      </p:sp>
      <p:sp>
        <p:nvSpPr>
          <p:cNvPr id="83" name="Fix box"/>
          <p:cNvSpPr/>
          <p:nvPr/>
        </p:nvSpPr>
        <p:spPr>
          <a:xfrm>
            <a:off x="5010912" y="5669280"/>
            <a:ext cx="2167128" cy="438912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84" name="Text 77"/>
          <p:cNvSpPr txBox="1"/>
          <p:nvPr/>
        </p:nvSpPr>
        <p:spPr>
          <a:xfrm>
            <a:off x="5084064" y="566928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owner; business numbers only</a:t>
            </a:r>
            <a:endParaRPr lang="en-US" sz="1050" dirty="0"/>
          </a:p>
        </p:txBody>
      </p:sp>
      <p:sp>
        <p:nvSpPr>
          <p:cNvPr id="85" name="Shape 78"/>
          <p:cNvSpPr/>
          <p:nvPr/>
        </p:nvSpPr>
        <p:spPr>
          <a:xfrm>
            <a:off x="7260336" y="4846320"/>
            <a:ext cx="2276856" cy="36576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6" name="Text 79"/>
          <p:cNvSpPr txBox="1"/>
          <p:nvPr/>
        </p:nvSpPr>
        <p:spPr>
          <a:xfrm>
            <a:off x="7498080" y="484632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150" dirty="0"/>
          </a:p>
        </p:txBody>
      </p:sp>
      <p:sp>
        <p:nvSpPr>
          <p:cNvPr id="87" name="Text 80"/>
          <p:cNvSpPr txBox="1"/>
          <p:nvPr/>
        </p:nvSpPr>
        <p:spPr>
          <a:xfrm>
            <a:off x="7306056" y="526694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Passbacks and secret offers in sales talks</a:t>
            </a:r>
            <a:endParaRPr lang="en-US" sz="1050" dirty="0"/>
          </a:p>
        </p:txBody>
      </p:sp>
      <p:sp>
        <p:nvSpPr>
          <p:cNvPr id="88" name="Fix box"/>
          <p:cNvSpPr/>
          <p:nvPr/>
        </p:nvSpPr>
        <p:spPr>
          <a:xfrm>
            <a:off x="7260336" y="5669280"/>
            <a:ext cx="2167128" cy="438912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7333488" y="566928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disclosable discount ladder</a:t>
            </a:r>
            <a:endParaRPr lang="en-US" sz="1050" dirty="0"/>
          </a:p>
        </p:txBody>
      </p:sp>
      <p:sp>
        <p:nvSpPr>
          <p:cNvPr id="90" name="Shape 83"/>
          <p:cNvSpPr/>
          <p:nvPr/>
        </p:nvSpPr>
        <p:spPr>
          <a:xfrm>
            <a:off x="9509760" y="4846320"/>
            <a:ext cx="2167128" cy="36576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1" name="Text 84"/>
          <p:cNvSpPr txBox="1"/>
          <p:nvPr/>
        </p:nvSpPr>
        <p:spPr>
          <a:xfrm>
            <a:off x="9747504" y="4846320"/>
            <a:ext cx="189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115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92" name="Text 85"/>
          <p:cNvSpPr txBox="1"/>
          <p:nvPr/>
        </p:nvSpPr>
        <p:spPr>
          <a:xfrm>
            <a:off x="9555480" y="5266944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7 cases did not show in survey scores</a:t>
            </a:r>
            <a:endParaRPr lang="en-US" sz="1050" dirty="0"/>
          </a:p>
        </p:txBody>
      </p:sp>
      <p:sp>
        <p:nvSpPr>
          <p:cNvPr id="93" name="Fix box"/>
          <p:cNvSpPr/>
          <p:nvPr/>
        </p:nvSpPr>
        <p:spPr>
          <a:xfrm>
            <a:off x="9509760" y="5669280"/>
            <a:ext cx="2167128" cy="438912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94" name="Text 87"/>
          <p:cNvSpPr txBox="1"/>
          <p:nvPr/>
        </p:nvSpPr>
        <p:spPr>
          <a:xfrm>
            <a:off x="9582912" y="5669280"/>
            <a:ext cx="2020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05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field and seeded test leads</a:t>
            </a:r>
            <a:endParaRPr lang="en-US" sz="1050" dirty="0"/>
          </a:p>
        </p:txBody>
      </p:sp>
      <p:sp>
        <p:nvSpPr>
          <p:cNvPr id="95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Wave 1 case journeys, survey data and leakage tracker. Signals from 53 test journeys, not proof; the audit (decision 1) will trace how data left.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today, then a 90 day plan</a:t>
            </a:r>
            <a:endParaRPr lang="en-US" sz="2400" dirty="0"/>
          </a:p>
        </p:txBody>
      </p:sp>
      <p:sp>
        <p:nvSpPr>
          <p:cNvPr id="4" name="Decision card"/>
          <p:cNvSpPr/>
          <p:nvPr/>
        </p:nvSpPr>
        <p:spPr>
          <a:xfrm>
            <a:off x="512064" y="1188720"/>
            <a:ext cx="36301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5" name="Decision head"/>
          <p:cNvSpPr/>
          <p:nvPr/>
        </p:nvSpPr>
        <p:spPr>
          <a:xfrm>
            <a:off x="512064" y="1188720"/>
            <a:ext cx="363016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106424" y="1188720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Authorize a 2 week lead source and vendor audit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" y="193852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buyers were called by outside brokers after giving details only to Binghatti; 3 by one firm.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248716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CRM access, exports and campaign vendors; Legal reviews both brokerages.</a:t>
            </a:r>
            <a:endParaRPr lang="en-US" sz="1150" dirty="0"/>
          </a:p>
        </p:txBody>
      </p:sp>
      <p:sp>
        <p:nvSpPr>
          <p:cNvPr id="10" name="Owner strip"/>
          <p:cNvSpPr/>
          <p:nvPr/>
        </p:nvSpPr>
        <p:spPr>
          <a:xfrm>
            <a:off x="621792" y="2871216"/>
            <a:ext cx="3410712" cy="329184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712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Risk, IT, Legal     </a:t>
            </a:r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100" dirty="0"/>
          </a:p>
        </p:txBody>
      </p:sp>
      <p:sp>
        <p:nvSpPr>
          <p:cNvPr id="12" name="Decision card"/>
          <p:cNvSpPr/>
          <p:nvPr/>
        </p:nvSpPr>
        <p:spPr>
          <a:xfrm>
            <a:off x="4279392" y="1188720"/>
            <a:ext cx="36301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3" name="Decision head"/>
          <p:cNvSpPr/>
          <p:nvPr/>
        </p:nvSpPr>
        <p:spPr>
          <a:xfrm>
            <a:off x="4279392" y="1188720"/>
            <a:ext cx="363016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0832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873752" y="1188720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tolerance on passbacks and concealed discounts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443984" y="193852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in-person visits heard a broker could beat our price; one agent sought a passport to hide a buyer.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443984" y="248716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disclosable discount ladder; side deals and secret offers treated as misconduct.</a:t>
            </a:r>
            <a:endParaRPr lang="en-US" sz="1150" dirty="0"/>
          </a:p>
        </p:txBody>
      </p:sp>
      <p:sp>
        <p:nvSpPr>
          <p:cNvPr id="18" name="Owner strip"/>
          <p:cNvSpPr/>
          <p:nvPr/>
        </p:nvSpPr>
        <p:spPr>
          <a:xfrm>
            <a:off x="4389120" y="2871216"/>
            <a:ext cx="3410712" cy="329184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98848" y="28712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leadership, HR, Legal     </a:t>
            </a:r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20" name="Decision card"/>
          <p:cNvSpPr/>
          <p:nvPr/>
        </p:nvSpPr>
        <p:spPr>
          <a:xfrm>
            <a:off x="8046720" y="1188720"/>
            <a:ext cx="363016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1" name="Decision head"/>
          <p:cNvSpPr/>
          <p:nvPr/>
        </p:nvSpPr>
        <p:spPr>
          <a:xfrm>
            <a:off x="8046720" y="1188720"/>
            <a:ext cx="3630168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11887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1188720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named owner for every lead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211312" y="193852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changed hands unannounced; 1 in 3 follow ups came from unlisted numbers.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8211312" y="2487168"/>
            <a:ext cx="3300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assigns one owner; hand offs logged and disclosed; business numbers only.</a:t>
            </a:r>
            <a:endParaRPr lang="en-US" sz="1150" dirty="0"/>
          </a:p>
        </p:txBody>
      </p:sp>
      <p:sp>
        <p:nvSpPr>
          <p:cNvPr id="26" name="Owner strip"/>
          <p:cNvSpPr/>
          <p:nvPr/>
        </p:nvSpPr>
        <p:spPr>
          <a:xfrm>
            <a:off x="8156448" y="2871216"/>
            <a:ext cx="3410712" cy="329184"/>
          </a:xfrm>
          <a:prstGeom prst="rect">
            <a:avLst/>
          </a:prstGeom>
          <a:solidFill>
            <a:srgbClr val="F3EEE3"/>
          </a:solidFill>
          <a:ln w="12700">
            <a:solidFill>
              <a:srgbClr val="F3EE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66176" y="287121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Sales     </a:t>
            </a:r>
            <a:pPr indent="0" marL="0">
              <a:buNone/>
            </a:pPr>
            <a:r>
              <a:rPr lang="en-US" sz="95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</a:t>
            </a:r>
            <a:pPr indent="0" marL="0">
              <a:buNone/>
            </a:pPr>
            <a:r>
              <a:rPr lang="en-US" sz="11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12064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 PLAN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2011680" y="345643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proposed; timeline assumes the audit is authorized this week.  D = decision on this page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12064" y="3749040"/>
            <a:ext cx="3733800" cy="384048"/>
          </a:xfrm>
          <a:prstGeom prst="homePlate">
            <a:avLst/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9224" y="3749040"/>
            <a:ext cx="327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 to 2</a:t>
            </a:r>
            <a:endParaRPr lang="en-US" sz="1200" dirty="0"/>
          </a:p>
        </p:txBody>
      </p:sp>
      <p:sp>
        <p:nvSpPr>
          <p:cNvPr id="32" name="Phase list"/>
          <p:cNvSpPr/>
          <p:nvPr/>
        </p:nvSpPr>
        <p:spPr>
          <a:xfrm>
            <a:off x="512064" y="4187952"/>
            <a:ext cx="364236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33" name="Decision tag"/>
          <p:cNvSpPr/>
          <p:nvPr/>
        </p:nvSpPr>
        <p:spPr>
          <a:xfrm>
            <a:off x="621792" y="4315968"/>
            <a:ext cx="310896" cy="201168"/>
          </a:xfrm>
          <a:prstGeom prst="rect">
            <a:avLst/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1792" y="43159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014984" y="42611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source and vendor audit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Risk, IT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" y="48371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14984" y="47183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of both brokerages and vendors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Marketing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31520" y="52943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14984" y="51755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staff named in Annex 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Risk, HR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31520" y="57515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14984" y="56327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bulk exports and shared logins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273296" y="3749040"/>
            <a:ext cx="3733800" cy="38404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47616" y="3749040"/>
            <a:ext cx="327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 to 6</a:t>
            </a:r>
            <a:endParaRPr lang="en-US" sz="1200" dirty="0"/>
          </a:p>
        </p:txBody>
      </p:sp>
      <p:sp>
        <p:nvSpPr>
          <p:cNvPr id="44" name="Phase list"/>
          <p:cNvSpPr/>
          <p:nvPr/>
        </p:nvSpPr>
        <p:spPr>
          <a:xfrm>
            <a:off x="4273296" y="4187952"/>
            <a:ext cx="364236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45" name="Decision tag"/>
          <p:cNvSpPr/>
          <p:nvPr/>
        </p:nvSpPr>
        <p:spPr>
          <a:xfrm>
            <a:off x="4383024" y="4315968"/>
            <a:ext cx="310896" cy="201168"/>
          </a:xfrm>
          <a:prstGeom prst="rect">
            <a:avLst/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383024" y="43159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4776216" y="42611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owner per lead; hand offs logged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Sales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492752" y="48371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776216" y="47183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numbers only; no personal phones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IT</a:t>
            </a:r>
            <a:endParaRPr lang="en-US" sz="1100" dirty="0"/>
          </a:p>
        </p:txBody>
      </p:sp>
      <p:sp>
        <p:nvSpPr>
          <p:cNvPr id="50" name="Decision tag"/>
          <p:cNvSpPr/>
          <p:nvPr/>
        </p:nvSpPr>
        <p:spPr>
          <a:xfrm>
            <a:off x="4383024" y="5230368"/>
            <a:ext cx="310896" cy="201168"/>
          </a:xfrm>
          <a:prstGeom prst="rect">
            <a:avLst/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383024" y="523036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4776216" y="51755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Disclosable discount ladder in force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HR, Legal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492752" y="57515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776216" y="56327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 inquiry; review H Hotel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Operations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034528" y="3749040"/>
            <a:ext cx="3642360" cy="384048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308848" y="3749040"/>
            <a:ext cx="3276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 </a:t>
            </a:r>
            <a:pPr indent="0" marL="0">
              <a:buNone/>
            </a:pPr>
            <a:r>
              <a:rPr lang="en-US" sz="12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 to 12</a:t>
            </a:r>
            <a:endParaRPr lang="en-US" sz="1200" dirty="0"/>
          </a:p>
        </p:txBody>
      </p:sp>
      <p:sp>
        <p:nvSpPr>
          <p:cNvPr id="57" name="Phase list"/>
          <p:cNvSpPr/>
          <p:nvPr/>
        </p:nvSpPr>
        <p:spPr>
          <a:xfrm>
            <a:off x="8034528" y="4187952"/>
            <a:ext cx="3642360" cy="1901952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253984" y="43799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537448" y="42611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2: 147 evaluations, seeded test leads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OD, BARE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8253984" y="48371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537448" y="47183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reported apart from CX score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253984" y="52943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537448" y="51755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first response standard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Marketing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253984" y="5751576"/>
            <a:ext cx="73152" cy="73152"/>
          </a:xfrm>
          <a:prstGeom prst="ellipse">
            <a:avLst/>
          </a:prstGeom>
          <a:solidFill>
            <a:srgbClr val="9B7B3D"/>
          </a:solidFill>
          <a:ln w="6350">
            <a:solidFill>
              <a:srgbClr val="9B7B3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537448" y="5632704"/>
            <a:ext cx="304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integrity dashboard to Chairman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OD</a:t>
            </a:r>
            <a:endParaRPr lang="en-US" sz="1100" dirty="0"/>
          </a:p>
        </p:txBody>
      </p:sp>
      <p:sp>
        <p:nvSpPr>
          <p:cNvPr id="66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noting: BARE will report all findings since the 53 at the weekly call, including the 13 October case.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331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 Coverage, method and scores by location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 Customer experience by channel and touchpoint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 Case register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 Data notes and definitions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9E2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 Restricted: individuals named for review (2 pages)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Coverage, method and scores by location</a:t>
            </a:r>
            <a:endParaRPr lang="en-US" sz="2400" dirty="0"/>
          </a:p>
        </p:txBody>
      </p:sp>
      <p:sp>
        <p:nvSpPr>
          <p:cNvPr id="4" name="Location chart panel"/>
          <p:cNvSpPr/>
          <p:nvPr/>
        </p:nvSpPr>
        <p:spPr>
          <a:xfrm>
            <a:off x="512064" y="1188720"/>
            <a:ext cx="7589520" cy="4901184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" y="129844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BY LOCATION, GROUPED BY CHANNEL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55448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</a:t>
            </a:r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and above   </a:t>
            </a:r>
            <a:pPr indent="0" marL="0">
              <a:buNone/>
            </a:pPr>
            <a:r>
              <a:rPr lang="en-US" sz="10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</a:t>
            </a:r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75 benchmark</a:t>
            </a:r>
            <a:endParaRPr lang="en-US" sz="1000" dirty="0"/>
          </a:p>
        </p:txBody>
      </p:sp>
      <p:graphicFrame>
        <p:nvGraphicFramePr>
          <p:cNvPr id="7" name="Location scores" descr=""/>
          <p:cNvGraphicFramePr/>
          <p:nvPr/>
        </p:nvGraphicFramePr>
        <p:xfrm>
          <a:off x="603504" y="1783080"/>
          <a:ext cx="7406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Method panel"/>
          <p:cNvSpPr/>
          <p:nvPr/>
        </p:nvSpPr>
        <p:spPr>
          <a:xfrm>
            <a:off x="8284464" y="1188720"/>
            <a:ext cx="3392424" cy="490118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485632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JOURNEY WAS TESTED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485632" y="1737360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076" y="186080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70848" y="170078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Binghatti as a real buyer: walk in, call, web form or social media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485632" y="2670048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076" y="2793492"/>
            <a:ext cx="210312" cy="21031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070848" y="263347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sales conversation, pricing and how discounts are handled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485632" y="3602736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076" y="3726180"/>
            <a:ext cx="210312" cy="2103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070848" y="35661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callbacks, material sent and the number used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8485632" y="4535424"/>
            <a:ext cx="457200" cy="45720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9076" y="4658868"/>
            <a:ext cx="210312" cy="2103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070848" y="4498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9C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any outside party that calls afterwards, and what they knew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8485632" y="5440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9A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spread is in offices: 94 at the Sales Boutique against 39 at H Hotel, where the buyer was repeatedly redirected.</a:t>
            </a:r>
            <a:endParaRPr lang="en-US" sz="1050" dirty="0"/>
          </a:p>
        </p:txBody>
      </p:sp>
      <p:sp>
        <p:nvSpPr>
          <p:cNvPr id="23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detailed report, Location and Channel Performance. Broker rows are outside brokerages selling Binghatti projects.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Customer experience by channel and touchpoint</a:t>
            </a:r>
            <a:endParaRPr lang="en-US" sz="2400" dirty="0"/>
          </a:p>
        </p:txBody>
      </p:sp>
      <p:graphicFrame>
        <p:nvGraphicFramePr>
          <p:cNvPr id="8" name="Channel heat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188720"/>
          <a:ext cx="11164824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51560"/>
                <a:gridCol w="1188720"/>
                <a:gridCol w="1325880"/>
                <a:gridCol w="1097280"/>
                <a:gridCol w="1051560"/>
                <a:gridCol w="1051560"/>
                <a:gridCol w="1197864"/>
                <a:gridCol w="11430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(evaluations)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Mock-up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Objection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up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(4)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2B2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center (9)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 (16)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(14)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2B2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(10)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E2B2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3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12064" y="3584448"/>
            <a:ext cx="1116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below 75, grey 75 to 84, gold 85 and above. Blank: touchpoint not in that channel. Broker calls: half answered first time, half sent a brochure (4 evaluations). Mock-up (3 tours) indicative.</a:t>
            </a:r>
            <a:endParaRPr lang="en-US" sz="1000" dirty="0"/>
          </a:p>
        </p:txBody>
      </p:sp>
      <p:sp>
        <p:nvSpPr>
          <p:cNvPr id="6" name="Column head"/>
          <p:cNvSpPr/>
          <p:nvPr/>
        </p:nvSpPr>
        <p:spPr>
          <a:xfrm>
            <a:off x="512064" y="3986784"/>
            <a:ext cx="5532120" cy="365760"/>
          </a:xfrm>
          <a:prstGeom prst="rect">
            <a:avLst/>
          </a:prstGeom>
          <a:solidFill>
            <a:srgbClr val="9B7B3D"/>
          </a:solidFill>
          <a:ln w="12700">
            <a:solidFill>
              <a:srgbClr val="9B7B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050792"/>
            <a:ext cx="237744" cy="23774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87552" y="3986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200" dirty="0"/>
          </a:p>
        </p:txBody>
      </p:sp>
      <p:sp>
        <p:nvSpPr>
          <p:cNvPr id="9" name="Stat row"/>
          <p:cNvSpPr/>
          <p:nvPr/>
        </p:nvSpPr>
        <p:spPr>
          <a:xfrm>
            <a:off x="512064" y="4407408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1792" y="4407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517904" y="4407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answered first time and handled courteously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5084064" y="44074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9</a:t>
            </a:r>
            <a:endParaRPr lang="en-US" sz="1000" dirty="0"/>
          </a:p>
        </p:txBody>
      </p:sp>
      <p:sp>
        <p:nvSpPr>
          <p:cNvPr id="13" name="Stat row"/>
          <p:cNvSpPr/>
          <p:nvPr/>
        </p:nvSpPr>
        <p:spPr>
          <a:xfrm>
            <a:off x="512064" y="4837176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21792" y="48371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517904" y="4837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kiosk and office buyers found staff polite and professional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084064" y="483717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of 26</a:t>
            </a:r>
            <a:endParaRPr lang="en-US" sz="1000" dirty="0"/>
          </a:p>
        </p:txBody>
      </p:sp>
      <p:sp>
        <p:nvSpPr>
          <p:cNvPr id="17" name="Stat row"/>
          <p:cNvSpPr/>
          <p:nvPr/>
        </p:nvSpPr>
        <p:spPr>
          <a:xfrm>
            <a:off x="512064" y="5266944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21792" y="52669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517904" y="52669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kiosk and office buyers had all questions answered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84064" y="526694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26</a:t>
            </a:r>
            <a:endParaRPr lang="en-US" sz="1000" dirty="0"/>
          </a:p>
        </p:txBody>
      </p:sp>
      <p:sp>
        <p:nvSpPr>
          <p:cNvPr id="21" name="Stat row"/>
          <p:cNvSpPr/>
          <p:nvPr/>
        </p:nvSpPr>
        <p:spPr>
          <a:xfrm>
            <a:off x="512064" y="5696712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1792" y="5696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1517904" y="5696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 visits found premises clean, safe and comfortable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084064" y="569671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10</a:t>
            </a:r>
            <a:endParaRPr lang="en-US" sz="1000" dirty="0"/>
          </a:p>
        </p:txBody>
      </p:sp>
      <p:sp>
        <p:nvSpPr>
          <p:cNvPr id="25" name="Column head"/>
          <p:cNvSpPr/>
          <p:nvPr/>
        </p:nvSpPr>
        <p:spPr>
          <a:xfrm>
            <a:off x="6144768" y="3986784"/>
            <a:ext cx="5532120" cy="365760"/>
          </a:xfrm>
          <a:prstGeom prst="rect">
            <a:avLst/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4050792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20256" y="39867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1200" dirty="0"/>
          </a:p>
        </p:txBody>
      </p:sp>
      <p:sp>
        <p:nvSpPr>
          <p:cNvPr id="28" name="Stat row"/>
          <p:cNvSpPr/>
          <p:nvPr/>
        </p:nvSpPr>
        <p:spPr>
          <a:xfrm>
            <a:off x="6144768" y="4407408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254496" y="44074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7150608" y="44074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digital inquiries were given no callback time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0716768" y="4407408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14</a:t>
            </a:r>
            <a:endParaRPr lang="en-US" sz="1000" dirty="0"/>
          </a:p>
        </p:txBody>
      </p:sp>
      <p:sp>
        <p:nvSpPr>
          <p:cNvPr id="32" name="Stat row"/>
          <p:cNvSpPr/>
          <p:nvPr/>
        </p:nvSpPr>
        <p:spPr>
          <a:xfrm>
            <a:off x="6144768" y="4837176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254496" y="48371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7150608" y="483717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phone and digital inquiries never got the material promised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10716768" y="4837176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23</a:t>
            </a:r>
            <a:endParaRPr lang="en-US" sz="1000" dirty="0"/>
          </a:p>
        </p:txBody>
      </p:sp>
      <p:sp>
        <p:nvSpPr>
          <p:cNvPr id="36" name="Stat row"/>
          <p:cNvSpPr/>
          <p:nvPr/>
        </p:nvSpPr>
        <p:spPr>
          <a:xfrm>
            <a:off x="6144768" y="5266944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254496" y="526694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7150608" y="52669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kiosk and office buyers heard nothing within 48 hours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10716768" y="526694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26</a:t>
            </a:r>
            <a:endParaRPr lang="en-US" sz="1000" dirty="0"/>
          </a:p>
        </p:txBody>
      </p:sp>
      <p:sp>
        <p:nvSpPr>
          <p:cNvPr id="40" name="Stat row"/>
          <p:cNvSpPr/>
          <p:nvPr/>
        </p:nvSpPr>
        <p:spPr>
          <a:xfrm>
            <a:off x="6144768" y="5696712"/>
            <a:ext cx="5532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54496" y="5696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E2B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7150608" y="5696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 visits had no inquiry form completed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0716768" y="569671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10</a:t>
            </a:r>
            <a:endParaRPr lang="en-US" sz="1000" dirty="0"/>
          </a:p>
        </p:txBody>
      </p:sp>
      <p:sp>
        <p:nvSpPr>
          <p:cNvPr id="44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detailed report (section scores by channel; channel yes/no answers). Leakage indicator score excluded, see 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Case register: eight integrity cases to date</a:t>
            </a:r>
            <a:endParaRPr lang="en-US" sz="2400" dirty="0"/>
          </a:p>
        </p:txBody>
      </p:sp>
      <p:graphicFrame>
        <p:nvGraphicFramePr>
          <p:cNvPr id="9" name="Case regis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188720"/>
          <a:ext cx="11164824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828800"/>
                <a:gridCol w="1508760"/>
                <a:gridCol w="3849624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JBR The Walk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&amp; Partners called knowing the project, area and studio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B7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V.22867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center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Profound Realtors called; had the number but not the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V.29389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Sep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Instagram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Profound Realtors called citing a campaign; pitched a competitor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V.23788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web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Outside broker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Profound Realtors pitched the same 1 bed in Al Jaddaf she asked us about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V.22908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Aug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Mall of the Emirates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offered a broker for extra discount; asked for spouse's passport to hide identity; broker never materialized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 follow 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V.27712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Bluewaters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colleague called on a number the agent shared without consent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B7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V.14893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Binghatti Industries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reassignment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July lead contacted by a new agent in September; no 48 hour follow 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V.26897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Bluewaters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routing (after Wave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offered outside agents' rates via her personal phone; asked for secrecy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E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12064" y="5715000"/>
            <a:ext cx="11164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BARE's tracker rates V.29389 Clear; the caller showed no awareness of the Binghatti inquiry. It is counted because the buyer gave her details only to Binghatti. V.26897 falls after Wave 1 and is not in the 53. Staff named for each case: Annex E (restricted).</a:t>
            </a:r>
            <a:endParaRPr lang="en-US" sz="1050" dirty="0"/>
          </a:p>
        </p:txBody>
      </p:sp>
      <p:sp>
        <p:nvSpPr>
          <p:cNvPr id="6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detailed report case journeys and data leakage tracker (preliminary risk ratings).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Data notes and definitions</a:t>
            </a:r>
            <a:endParaRPr lang="en-US" sz="2400" dirty="0"/>
          </a:p>
        </p:txBody>
      </p:sp>
      <p:sp>
        <p:nvSpPr>
          <p:cNvPr id="4" name="Note card"/>
          <p:cNvSpPr/>
          <p:nvPr/>
        </p:nvSpPr>
        <p:spPr>
          <a:xfrm>
            <a:off x="512064" y="1207008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4944" y="12984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4944" y="1591056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evaluations, July to September 2026: kiosk 16, digital 14, office 10, call center 9, outside broker 4. Wave 1 of 200 planned.</a:t>
            </a:r>
            <a:endParaRPr lang="en-US" sz="1200" dirty="0"/>
          </a:p>
        </p:txBody>
      </p:sp>
      <p:sp>
        <p:nvSpPr>
          <p:cNvPr id="7" name="Note card"/>
          <p:cNvSpPr/>
          <p:nvPr/>
        </p:nvSpPr>
        <p:spPr>
          <a:xfrm>
            <a:off x="6144768" y="1207008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7648" y="12984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27648" y="1591056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is the best practice threshold agreed with BARE on 14 October. BARE also floated 85 as a stretch standard; at 85 only the broker channel (87) passes.</a:t>
            </a:r>
            <a:endParaRPr lang="en-US" sz="1200" dirty="0"/>
          </a:p>
        </p:txBody>
      </p:sp>
      <p:sp>
        <p:nvSpPr>
          <p:cNvPr id="10" name="Note card"/>
          <p:cNvSpPr/>
          <p:nvPr/>
        </p:nvSpPr>
        <p:spPr>
          <a:xfrm>
            <a:off x="512064" y="2423160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" y="25146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cases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2807208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53 (13%) as classified by BARE, recut here by type. Outside broker contact alone is 4 of 53 (8%). Remote inquiries are digital plus call center (23).</a:t>
            </a:r>
            <a:endParaRPr lang="en-US" sz="1200" dirty="0"/>
          </a:p>
        </p:txBody>
      </p:sp>
      <p:sp>
        <p:nvSpPr>
          <p:cNvPr id="13" name="Note card"/>
          <p:cNvSpPr/>
          <p:nvPr/>
        </p:nvSpPr>
        <p:spPr>
          <a:xfrm>
            <a:off x="6144768" y="2423160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7648" y="25146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Percentages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2807208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channel yes/no answers. Passback 4 of 23 visits; offer secrecy 4 of 24 (BARE's executive report swaps these bases); unlisted number 4 of 12. Kiosk and office base is 26 visits.</a:t>
            </a:r>
            <a:endParaRPr lang="en-US" sz="1200" dirty="0"/>
          </a:p>
        </p:txBody>
      </p:sp>
      <p:sp>
        <p:nvSpPr>
          <p:cNvPr id="16" name="Note card"/>
          <p:cNvSpPr/>
          <p:nvPr/>
        </p:nvSpPr>
        <p:spPr>
          <a:xfrm>
            <a:off x="512064" y="3639312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" y="3730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samples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" y="4023360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channel (4), mock-up tours (3) and most single locations (often 1 visit, including H Hotel) are indicative only.</a:t>
            </a:r>
            <a:endParaRPr lang="en-US" sz="1200" dirty="0"/>
          </a:p>
        </p:txBody>
      </p:sp>
      <p:sp>
        <p:nvSpPr>
          <p:cNvPr id="19" name="Note card"/>
          <p:cNvSpPr/>
          <p:nvPr/>
        </p:nvSpPr>
        <p:spPr>
          <a:xfrm>
            <a:off x="6144768" y="3639312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27648" y="37307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Excluded score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27648" y="4023360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leakage indicator score (88 to 100) is excluded: only 4 of the 7 cases show in the survey, so it overstates integrity.</a:t>
            </a:r>
            <a:endParaRPr lang="en-US" sz="1200" dirty="0"/>
          </a:p>
        </p:txBody>
      </p:sp>
      <p:sp>
        <p:nvSpPr>
          <p:cNvPr id="22" name="Note card"/>
          <p:cNvSpPr/>
          <p:nvPr/>
        </p:nvSpPr>
        <p:spPr>
          <a:xfrm>
            <a:off x="512064" y="4855464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" y="49469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Wave 1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" y="5239512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V.26897 (13 October, Bluewaters kiosk) is outside the 53 and still under follow up; it is shown because it suggests the behavior is ongoing.</a:t>
            </a:r>
            <a:endParaRPr lang="en-US" sz="1200" dirty="0"/>
          </a:p>
        </p:txBody>
      </p:sp>
      <p:sp>
        <p:nvSpPr>
          <p:cNvPr id="25" name="Note card"/>
          <p:cNvSpPr/>
          <p:nvPr/>
        </p:nvSpPr>
        <p:spPr>
          <a:xfrm>
            <a:off x="6144768" y="4855464"/>
            <a:ext cx="55321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9CF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27648" y="494690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B7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and image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27648" y="5239512"/>
            <a:ext cx="5166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names appear only in Annex E (restricted); remove it before wider circulation. Shopper names are never shown. Cover image: Burj Binghatti Jacob &amp; Co Residences (Binghatti).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Restricted (1 of 2): conduct to investigate</a:t>
            </a:r>
            <a:endParaRPr lang="en-US" sz="2400" dirty="0"/>
          </a:p>
        </p:txBody>
      </p:sp>
      <p:sp>
        <p:nvSpPr>
          <p:cNvPr id="4" name="Restriction banner"/>
          <p:cNvSpPr/>
          <p:nvPr/>
        </p:nvSpPr>
        <p:spPr>
          <a:xfrm>
            <a:off x="512064" y="1115568"/>
            <a:ext cx="11164824" cy="384048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1155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Chairman, Group CHRO, Governance &amp; Risk and Legal only. Names are as reported by evaluators; inclusion is not a finding of wrongdoing.</a:t>
            </a:r>
            <a:endParaRPr lang="en-US" sz="1150" dirty="0"/>
          </a:p>
        </p:txBody>
      </p:sp>
      <p:graphicFrame>
        <p:nvGraphicFramePr>
          <p:cNvPr id="11" name="Restricted na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627632"/>
          <a:ext cx="11164824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828800"/>
                <a:gridCol w="1463040"/>
                <a:gridCol w="3986784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/ 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reported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 SIDE DEALS AND CONCEALMENT: INVESTIGATE CONDUCT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2B2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Sabri Dhebaibi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Mall of the Emirates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V.22908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Offered to route a discount via a broker; asked for the spouse's passport to hide the buyer from Binghatti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Adiba Sultan (roster check pending)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Bluewaters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V.26897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Oct: offered outside agents' rates via her personal phone; asked the buyer for secrecy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V.23489, V.23205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passback affirmed in two separate visits (with Hatem; with Imad)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Survey, repeat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Seddikkhair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V.23490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passback affirmed and buyer asked to keep the offer confidential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Survey, two flags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Hatem; Imad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V.23489; V.23205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passback affirmed (each alongside Sameh)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Feras Al Hussein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Office; Kiosk, Mirdif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V.23840; V.29385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asked to keep the offer confidential; kiosk visit flagged for passback or secrecy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V.31710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asked to keep the offer confidential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Eiyad Talaat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V.25700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for passback or offer secrecy (BARE reports differ on which)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12064" y="5669280"/>
            <a:ext cx="1116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Spelled Alhussein in one BARE report; confirm whether both visits are the same person. Office names for V.23489, V.23490, V.23205, V.23840 and V.31710 to be confirmed from BARE's raw data.</a:t>
            </a:r>
            <a:endParaRPr lang="en-US" sz="1050" dirty="0"/>
          </a:p>
        </p:txBody>
      </p:sp>
      <p:sp>
        <p:nvSpPr>
          <p:cNvPr id="8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executive report (integrity signals and case journeys), BARE leakage tracker, and 14 October review call (V.26897).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12064" y="18288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4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Restricted (2 of 2): data trail and internal handling</a:t>
            </a:r>
            <a:endParaRPr lang="en-US" sz="2400" dirty="0"/>
          </a:p>
        </p:txBody>
      </p:sp>
      <p:sp>
        <p:nvSpPr>
          <p:cNvPr id="4" name="Restriction banner"/>
          <p:cNvSpPr/>
          <p:nvPr/>
        </p:nvSpPr>
        <p:spPr>
          <a:xfrm>
            <a:off x="512064" y="1115568"/>
            <a:ext cx="11164824" cy="384048"/>
          </a:xfrm>
          <a:prstGeom prst="rect">
            <a:avLst/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115568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Chairman, Group CHRO, Governance &amp; Risk and Legal only. Names are as reported by evaluators; inclusion is not a finding of wrongdoing.</a:t>
            </a:r>
            <a:endParaRPr lang="en-US" sz="1150" dirty="0"/>
          </a:p>
        </p:txBody>
      </p:sp>
      <p:graphicFrame>
        <p:nvGraphicFramePr>
          <p:cNvPr id="12" name="Restricted nam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627632"/>
          <a:ext cx="11164824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828800"/>
                <a:gridCol w="1463040"/>
                <a:gridCol w="3986784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/ 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reported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7F4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  LEADS LATER CALLED BY AN OUTSIDE BROKER: INTERVIEW FOR THE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7B3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Nermin Ashraf Tarik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web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V.23788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the lead; Profound Realtors called 14 days later about the same unit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E2B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Mehak Muhammad; Fatma Hussain Shojaee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JBR The Walk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V.23203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Took details on a tablet; Element &amp; Partners called next day; follow up from an unlisted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B7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Shadi; Emad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center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V.22867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the call; Profound Realtors called 2 days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Kareem; Mohamed Osama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Digital, Instagram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V.29389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the inquiry; Profound Realtors called 3 days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0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  INTERNAL HANDLING AND PROCESS: REVIEW WITH LINE MANAGERS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A6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Suleiman; Lizzie / Liza (Customer Service)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Kiosk, Bluewaters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V.27712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Buyer's number shared internally without consent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B7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(tracker)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Samah; Misha; Keman Gamal / Lola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Binghatti Industries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V.14893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48 hour follow up; lead reassigned to a new agent six weeks later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Hussain Akar; Ammara; Godwill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Kiosk; Kiosk; 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V.23880; V.23209; V.23840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Followed up from a number not on the business card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E6A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12064" y="5669280"/>
            <a:ext cx="11164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7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External, for Legal: </a:t>
            </a:r>
            <a:pPr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Profound Realtors agents named by shoppers: Sam Roy (V.22867), Ali (V.23788), Muhammad Ali Zain (V.29389). Element &amp; Partners (V.23203): no agent named. Group B staff handled leads that later leaked; they are not presumed at fault.</a:t>
            </a:r>
            <a:endParaRPr lang="en-US" sz="1050" dirty="0"/>
          </a:p>
        </p:txBody>
      </p:sp>
      <p:sp>
        <p:nvSpPr>
          <p:cNvPr id="8" name="Source"/>
          <p:cNvSpPr txBox="1"/>
          <p:nvPr/>
        </p:nvSpPr>
        <p:spPr>
          <a:xfrm>
            <a:off x="512064" y="618134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BARE International detailed report (case journeys, integrity signals) and BARE leakage tracker preliminary ratings.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9688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A6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nghatti">
  <a:themeElements>
    <a:clrScheme name="Binghatti">
      <a:dk1>
        <a:srgbClr val="111111"/>
      </a:dk1>
      <a:lt1>
        <a:srgbClr val="FFFFFF"/>
      </a:lt1>
      <a:dk2>
        <a:srgbClr val="1C1C1C"/>
      </a:dk2>
      <a:lt2>
        <a:srgbClr val="FCFBF8"/>
      </a:lt2>
      <a:accent1>
        <a:srgbClr val="9B7B3D"/>
      </a:accent1>
      <a:accent2>
        <a:srgbClr val="9E2B25"/>
      </a:accent2>
      <a:accent3>
        <a:srgbClr val="6E6A62"/>
      </a:accent3>
      <a:accent4>
        <a:srgbClr val="D9CFB8"/>
      </a:accent4>
      <a:accent5>
        <a:srgbClr val="F3EEE3"/>
      </a:accent5>
      <a:accent6>
        <a:srgbClr val="EEEDE9"/>
      </a:accent6>
      <a:hlink>
        <a:srgbClr val="0563C1"/>
      </a:hlink>
      <a:folHlink>
        <a:srgbClr val="954F72"/>
      </a:folHlink>
    </a:clrScheme>
    <a:fontScheme name="Binghatt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Binghatti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Mystery Shopper Audit: Chairman Briefing</dc:title>
  <dc:subject>PptxGenJS Presentation</dc:subject>
  <dc:creator>Group HR Planning and Organizational Development</dc:creator>
  <cp:lastModifiedBy>Group HR Planning and Organizational Development</cp:lastModifiedBy>
  <cp:revision>1</cp:revision>
  <dcterms:created xsi:type="dcterms:W3CDTF">2026-10-15T14:56:30Z</dcterms:created>
  <dcterms:modified xsi:type="dcterms:W3CDTF">2026-10-15T14:56:30Z</dcterms:modified>
</cp:coreProperties>
</file>